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8" r:id="rId4"/>
    <p:sldId id="257" r:id="rId5"/>
    <p:sldId id="260" r:id="rId6"/>
    <p:sldId id="261" r:id="rId7"/>
    <p:sldId id="262" r:id="rId8"/>
    <p:sldId id="263" r:id="rId9"/>
    <p:sldId id="264"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6" d="100"/>
          <a:sy n="96" d="100"/>
        </p:scale>
        <p:origin x="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457970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8264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75CD8-20CB-4E21-BE77-612E17364050}" type="datetimeFigureOut">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50857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165771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D75CD8-20CB-4E21-BE77-612E17364050}" type="datetimeFigureOut">
              <a:rPr lang="en-IN" smtClean="0"/>
              <a:t>12-04-2025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54128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D75CD8-20CB-4E21-BE77-612E17364050}" type="datetimeFigureOut">
              <a:rPr lang="en-IN" smtClean="0"/>
              <a:t>12-04-2025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572983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D75CD8-20CB-4E21-BE77-612E17364050}" type="datetimeFigureOut">
              <a:rPr lang="en-IN" smtClean="0"/>
              <a:t>12-04-2025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94098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82364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62169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458896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871979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42643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613198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D75CD8-20CB-4E21-BE77-612E17364050}" type="datetimeFigureOut">
              <a:rPr lang="en-IN" smtClean="0"/>
              <a:t>12-04-2025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060586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D75CD8-20CB-4E21-BE77-612E17364050}" type="datetimeFigureOut">
              <a:rPr lang="en-IN" smtClean="0"/>
              <a:t>12-04-2025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254723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036582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223355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2D75CD8-20CB-4E21-BE77-612E17364050}" type="datetimeFigureOut">
              <a:rPr lang="en-IN" smtClean="0"/>
              <a:t>12-04-2025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2BEE086-C6F2-4858-AA85-80E705092E07}" type="slidenum">
              <a:rPr lang="en-IN" smtClean="0"/>
              <a:t>‹#›</a:t>
            </a:fld>
            <a:endParaRPr lang="en-IN"/>
          </a:p>
        </p:txBody>
      </p:sp>
    </p:spTree>
    <p:extLst>
      <p:ext uri="{BB962C8B-B14F-4D97-AF65-F5344CB8AC3E}">
        <p14:creationId xmlns:p14="http://schemas.microsoft.com/office/powerpoint/2010/main" val="5297848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204EF-89A6-3D38-EAB6-42196FA15411}"/>
              </a:ext>
            </a:extLst>
          </p:cNvPr>
          <p:cNvSpPr>
            <a:spLocks noGrp="1"/>
          </p:cNvSpPr>
          <p:nvPr>
            <p:ph type="ctrTitle"/>
          </p:nvPr>
        </p:nvSpPr>
        <p:spPr>
          <a:xfrm>
            <a:off x="585746" y="1401417"/>
            <a:ext cx="9144000" cy="4055165"/>
          </a:xfrm>
        </p:spPr>
        <p:txBody>
          <a:bodyPr>
            <a:noAutofit/>
          </a:bodyPr>
          <a:lstStyle/>
          <a:p>
            <a:pPr algn="l">
              <a:buNone/>
            </a:pPr>
            <a:br>
              <a:rPr lang="en-IN" sz="2800" b="1" dirty="0"/>
            </a:br>
            <a:br>
              <a:rPr lang="en-IN" sz="2800" b="1" dirty="0"/>
            </a:br>
            <a:br>
              <a:rPr lang="en-IN" sz="2800" b="1" dirty="0"/>
            </a:br>
            <a:br>
              <a:rPr lang="en-IN" sz="2800" b="1" dirty="0"/>
            </a:br>
            <a:r>
              <a:rPr lang="en-IN" sz="2800" b="1" dirty="0">
                <a:latin typeface="Times New Roman" panose="02020603050405020304" pitchFamily="18" charset="0"/>
                <a:cs typeface="Times New Roman" panose="02020603050405020304" pitchFamily="18" charset="0"/>
              </a:rPr>
              <a:t>Title</a:t>
            </a:r>
            <a:r>
              <a:rPr lang="en-IN" sz="2800" dirty="0">
                <a:latin typeface="Times New Roman" panose="02020603050405020304" pitchFamily="18" charset="0"/>
                <a:cs typeface="Times New Roman" panose="02020603050405020304" pitchFamily="18" charset="0"/>
              </a:rPr>
              <a:t>: </a:t>
            </a:r>
            <a:r>
              <a:rPr lang="en-IN" sz="2800" i="1" dirty="0">
                <a:latin typeface="Times New Roman" panose="02020603050405020304" pitchFamily="18" charset="0"/>
                <a:cs typeface="Times New Roman" panose="02020603050405020304" pitchFamily="18" charset="0"/>
              </a:rPr>
              <a:t>Landslide Dataset Analysis Using EDA</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Include</a:t>
            </a: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Your Name: Abhay Chaudhary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Reg. No: 12315216</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Course Code: INT375</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Guide: Mrs. Aashima Bansal</a:t>
            </a:r>
            <a:br>
              <a:rPr lang="en-IN" sz="2400" dirty="0">
                <a:latin typeface="Times New Roman" panose="02020603050405020304" pitchFamily="18" charset="0"/>
                <a:cs typeface="Times New Roman" panose="02020603050405020304" pitchFamily="18" charset="0"/>
              </a:rPr>
            </a:br>
            <a:r>
              <a:rPr lang="en-IN" sz="2400" b="1" kern="1400" spc="25" dirty="0">
                <a:solidFill>
                  <a:schemeClr val="tx1">
                    <a:lumMod val="85000"/>
                  </a:schemeClr>
                </a:solidFill>
                <a:effectLst/>
                <a:latin typeface="Times New Roman" panose="02020603050405020304" pitchFamily="18" charset="0"/>
                <a:ea typeface="MS Gothic" panose="020B0609070205080204" pitchFamily="49" charset="-128"/>
                <a:cs typeface="Times New Roman" panose="02020603050405020304" pitchFamily="18" charset="0"/>
              </a:rPr>
              <a:t>Lovely School of Computer Science and Engineering</a:t>
            </a:r>
            <a:br>
              <a:rPr lang="en-IN" sz="2400" kern="1400" spc="25" dirty="0">
                <a:solidFill>
                  <a:schemeClr val="tx1">
                    <a:lumMod val="85000"/>
                  </a:schemeClr>
                </a:solidFill>
                <a:effectLst/>
                <a:latin typeface="Times New Roman" panose="02020603050405020304" pitchFamily="18" charset="0"/>
                <a:ea typeface="MS Gothic" panose="020B0609070205080204" pitchFamily="49" charset="-128"/>
                <a:cs typeface="Times New Roman" panose="02020603050405020304" pitchFamily="18" charset="0"/>
              </a:rPr>
            </a:br>
            <a:r>
              <a:rPr lang="en-IN" sz="2400" b="1" kern="1400" spc="25" dirty="0">
                <a:solidFill>
                  <a:schemeClr val="tx1">
                    <a:lumMod val="85000"/>
                  </a:schemeClr>
                </a:solidFill>
                <a:effectLst/>
                <a:latin typeface="Times New Roman" panose="02020603050405020304" pitchFamily="18" charset="0"/>
                <a:ea typeface="MS Gothic" panose="020B0609070205080204" pitchFamily="49" charset="-128"/>
                <a:cs typeface="Times New Roman" panose="02020603050405020304" pitchFamily="18" charset="0"/>
              </a:rPr>
              <a:t> </a:t>
            </a:r>
            <a:br>
              <a:rPr lang="en-IN" sz="2400" kern="1400" spc="25" dirty="0">
                <a:solidFill>
                  <a:schemeClr val="tx1">
                    <a:lumMod val="85000"/>
                  </a:schemeClr>
                </a:solidFill>
                <a:effectLst/>
                <a:latin typeface="Times New Roman" panose="02020603050405020304" pitchFamily="18" charset="0"/>
                <a:ea typeface="MS Gothic" panose="020B0609070205080204" pitchFamily="49" charset="-128"/>
                <a:cs typeface="Times New Roman" panose="02020603050405020304" pitchFamily="18" charset="0"/>
              </a:rPr>
            </a:br>
            <a:r>
              <a:rPr lang="en-IN" sz="2400" b="1" kern="1400" spc="25" dirty="0">
                <a:solidFill>
                  <a:schemeClr val="tx1">
                    <a:lumMod val="85000"/>
                  </a:schemeClr>
                </a:solidFill>
                <a:effectLst/>
                <a:latin typeface="Times New Roman" panose="02020603050405020304" pitchFamily="18" charset="0"/>
                <a:ea typeface="MS Gothic" panose="020B0609070205080204" pitchFamily="49" charset="-128"/>
                <a:cs typeface="Times New Roman" panose="02020603050405020304" pitchFamily="18" charset="0"/>
              </a:rPr>
              <a:t>Lovely Professional University, Phagwara</a:t>
            </a:r>
            <a:br>
              <a:rPr lang="en-IN" sz="1800" kern="1400" spc="25" dirty="0">
                <a:solidFill>
                  <a:schemeClr val="tx1">
                    <a:lumMod val="85000"/>
                  </a:schemeClr>
                </a:solidFill>
                <a:effectLst/>
                <a:latin typeface="Calibri" panose="020F0502020204030204" pitchFamily="34" charset="0"/>
                <a:ea typeface="MS Gothic" panose="020B0609070205080204" pitchFamily="49" charset="-128"/>
                <a:cs typeface="Times New Roman" panose="02020603050405020304" pitchFamily="18" charset="0"/>
              </a:rPr>
            </a:br>
            <a:br>
              <a:rPr lang="en-IN" sz="2800" dirty="0">
                <a:solidFill>
                  <a:schemeClr val="tx1">
                    <a:lumMod val="85000"/>
                  </a:schemeClr>
                </a:solidFill>
              </a:rPr>
            </a:br>
            <a:endParaRPr lang="en-IN" sz="2800" dirty="0">
              <a:solidFill>
                <a:schemeClr val="tx1">
                  <a:lumMod val="85000"/>
                </a:schemeClr>
              </a:solidFill>
            </a:endParaRPr>
          </a:p>
        </p:txBody>
      </p:sp>
    </p:spTree>
    <p:extLst>
      <p:ext uri="{BB962C8B-B14F-4D97-AF65-F5344CB8AC3E}">
        <p14:creationId xmlns:p14="http://schemas.microsoft.com/office/powerpoint/2010/main" val="3534270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E17A-996C-AE29-C28C-D93B9CC7CB14}"/>
              </a:ext>
            </a:extLst>
          </p:cNvPr>
          <p:cNvSpPr>
            <a:spLocks noGrp="1"/>
          </p:cNvSpPr>
          <p:nvPr>
            <p:ph type="ctrTitle"/>
          </p:nvPr>
        </p:nvSpPr>
        <p:spPr>
          <a:xfrm>
            <a:off x="639173" y="-332301"/>
            <a:ext cx="9440034" cy="1828801"/>
          </a:xfrm>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Global Landslide Analysis </a:t>
            </a:r>
            <a:b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0321D8D-FED9-BF0D-0A90-60B2D0D01C10}"/>
              </a:ext>
            </a:extLst>
          </p:cNvPr>
          <p:cNvSpPr>
            <a:spLocks noChangeArrowheads="1"/>
          </p:cNvSpPr>
          <p:nvPr/>
        </p:nvSpPr>
        <p:spPr bwMode="auto">
          <a:xfrm>
            <a:off x="1" y="1434501"/>
            <a:ext cx="1191900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a:t>
            </a:r>
          </a:p>
          <a:p>
            <a:pPr marR="0" lvl="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Landslides are destructive natural events that can lead to loss of life and property. This project uses global landslide data to explore causes, patterns, and impacts through Exploratory Data Analysis (EDA) using Python libraries like Pandas, Matplotlib, and Seaborn.</a:t>
            </a:r>
          </a:p>
        </p:txBody>
      </p:sp>
      <p:sp>
        <p:nvSpPr>
          <p:cNvPr id="6" name="Rectangle 3">
            <a:extLst>
              <a:ext uri="{FF2B5EF4-FFF2-40B4-BE49-F238E27FC236}">
                <a16:creationId xmlns:a16="http://schemas.microsoft.com/office/drawing/2014/main" id="{CA7D45E3-66C9-6FB9-371D-D144FB15A42C}"/>
              </a:ext>
            </a:extLst>
          </p:cNvPr>
          <p:cNvSpPr>
            <a:spLocks noChangeArrowheads="1"/>
          </p:cNvSpPr>
          <p:nvPr/>
        </p:nvSpPr>
        <p:spPr bwMode="auto">
          <a:xfrm>
            <a:off x="65314" y="2339973"/>
            <a:ext cx="11756572"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 Background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Landslides cause major damage to people, infrastructure, and the environment. Understanding their triggers is key to building early warning systems and prevention strategies.</a:t>
            </a:r>
          </a:p>
        </p:txBody>
      </p:sp>
      <p:sp>
        <p:nvSpPr>
          <p:cNvPr id="8" name="Rectangle 5">
            <a:extLst>
              <a:ext uri="{FF2B5EF4-FFF2-40B4-BE49-F238E27FC236}">
                <a16:creationId xmlns:a16="http://schemas.microsoft.com/office/drawing/2014/main" id="{8A952018-29A7-0703-0BDB-FE5462E71448}"/>
              </a:ext>
            </a:extLst>
          </p:cNvPr>
          <p:cNvSpPr>
            <a:spLocks noChangeArrowheads="1"/>
          </p:cNvSpPr>
          <p:nvPr/>
        </p:nvSpPr>
        <p:spPr bwMode="auto">
          <a:xfrm>
            <a:off x="65314" y="3432255"/>
            <a:ext cx="7563289"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 Objectives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 is to study global landslide trends, identify risk factors, and find patterns using historical data.</a:t>
            </a:r>
          </a:p>
        </p:txBody>
      </p:sp>
      <p:sp>
        <p:nvSpPr>
          <p:cNvPr id="10" name="Rectangle 7">
            <a:extLst>
              <a:ext uri="{FF2B5EF4-FFF2-40B4-BE49-F238E27FC236}">
                <a16:creationId xmlns:a16="http://schemas.microsoft.com/office/drawing/2014/main" id="{10EFB884-4A33-3C6B-41B4-9B43FBE47474}"/>
              </a:ext>
            </a:extLst>
          </p:cNvPr>
          <p:cNvSpPr>
            <a:spLocks noChangeArrowheads="1"/>
          </p:cNvSpPr>
          <p:nvPr/>
        </p:nvSpPr>
        <p:spPr bwMode="auto">
          <a:xfrm>
            <a:off x="65314" y="4331001"/>
            <a:ext cx="9842759"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1.3 Importance of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Analyzing landslide data helps identify vulnerable areas and time periods, aiding disaster preparedness and risk reduction</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327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BBF5-31FC-7F8E-3413-A411A969D0EB}"/>
              </a:ext>
            </a:extLst>
          </p:cNvPr>
          <p:cNvSpPr>
            <a:spLocks noGrp="1"/>
          </p:cNvSpPr>
          <p:nvPr>
            <p:ph type="ctrTitle"/>
          </p:nvPr>
        </p:nvSpPr>
        <p:spPr>
          <a:xfrm>
            <a:off x="182754" y="1377725"/>
            <a:ext cx="9440034" cy="4598532"/>
          </a:xfrm>
        </p:spPr>
        <p:txBody>
          <a:bodyPr>
            <a:normAutofit fontScale="90000"/>
          </a:bodyPr>
          <a:lstStyle/>
          <a:p>
            <a:pPr algn="l"/>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Exploratory Data Analysis (EDA) Process</a:t>
            </a:r>
            <a:br>
              <a:rPr lang="en-IN" sz="2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(Understanding and Preparing the Landslide Dataset)</a:t>
            </a:r>
            <a:br>
              <a:rPr lang="en-IN" sz="1400" dirty="0">
                <a:latin typeface="Times New Roman" panose="02020603050405020304" pitchFamily="18" charset="0"/>
                <a:cs typeface="Times New Roman" panose="02020603050405020304" pitchFamily="18" charset="0"/>
              </a:rPr>
            </a:br>
            <a:br>
              <a:rPr lang="en-IN" sz="1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Exploratory Data Analysis (EDA) is the process of analyzing datasets to:</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Understand structure and characteristics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Detect missing data, outliers, and anomalies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Identify patterns, correlations, and trends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Prepare data for modeling and predictions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Goal: Gain insights and prepare clean, structured data for analysis.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Steps Followed in EDA</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.Load Dataset: Using </a:t>
            </a:r>
            <a:r>
              <a:rPr lang="en-IN" sz="1600" dirty="0" err="1">
                <a:latin typeface="Times New Roman" panose="02020603050405020304" pitchFamily="18" charset="0"/>
                <a:cs typeface="Times New Roman" panose="02020603050405020304" pitchFamily="18" charset="0"/>
              </a:rPr>
              <a:t>pandas.read_csv</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2. Inspect Structure: Use </a:t>
            </a:r>
            <a:r>
              <a:rPr lang="en-IN" sz="1600" dirty="0" err="1">
                <a:latin typeface="Times New Roman" panose="02020603050405020304" pitchFamily="18" charset="0"/>
                <a:cs typeface="Times New Roman" panose="02020603050405020304" pitchFamily="18" charset="0"/>
              </a:rPr>
              <a:t>df.head</a:t>
            </a:r>
            <a:r>
              <a:rPr lang="en-IN" sz="1600" dirty="0">
                <a:latin typeface="Times New Roman" panose="02020603050405020304" pitchFamily="18" charset="0"/>
                <a:cs typeface="Times New Roman" panose="02020603050405020304" pitchFamily="18" charset="0"/>
              </a:rPr>
              <a:t>(), df.info(), </a:t>
            </a:r>
            <a:r>
              <a:rPr lang="en-IN" sz="1600" dirty="0" err="1">
                <a:latin typeface="Times New Roman" panose="02020603050405020304" pitchFamily="18" charset="0"/>
                <a:cs typeface="Times New Roman" panose="02020603050405020304" pitchFamily="18" charset="0"/>
              </a:rPr>
              <a:t>df.shape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3. Handle Missing Values: Fill or drop nulls based on type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4. Convert Dates: Use </a:t>
            </a:r>
            <a:r>
              <a:rPr lang="en-IN" sz="1600" dirty="0" err="1">
                <a:latin typeface="Times New Roman" panose="02020603050405020304" pitchFamily="18" charset="0"/>
                <a:cs typeface="Times New Roman" panose="02020603050405020304" pitchFamily="18" charset="0"/>
              </a:rPr>
              <a:t>pd.to_datetime</a:t>
            </a:r>
            <a:r>
              <a:rPr lang="en-IN" sz="1600" dirty="0">
                <a:latin typeface="Times New Roman" panose="02020603050405020304" pitchFamily="18" charset="0"/>
                <a:cs typeface="Times New Roman" panose="02020603050405020304" pitchFamily="18" charset="0"/>
              </a:rPr>
              <a:t>() for </a:t>
            </a:r>
            <a:r>
              <a:rPr lang="en-IN" sz="1600" dirty="0" err="1">
                <a:latin typeface="Times New Roman" panose="02020603050405020304" pitchFamily="18" charset="0"/>
                <a:cs typeface="Times New Roman" panose="02020603050405020304" pitchFamily="18" charset="0"/>
              </a:rPr>
              <a:t>event_date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5. Replace Nulls with 0: For numeric fields like fatalities, injuries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6. Detect Outliers: Use Interquartile Range (IQR) method</a:t>
            </a:r>
            <a:br>
              <a:rPr lang="en-IN" sz="1000" dirty="0"/>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361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BD51474-3B82-E13D-827A-64A4C4C6661B}"/>
              </a:ext>
            </a:extLst>
          </p:cNvPr>
          <p:cNvSpPr>
            <a:spLocks noGrp="1" noChangeArrowheads="1"/>
          </p:cNvSpPr>
          <p:nvPr>
            <p:ph type="ctrTitle"/>
          </p:nvPr>
        </p:nvSpPr>
        <p:spPr bwMode="auto">
          <a:xfrm>
            <a:off x="0" y="686784"/>
            <a:ext cx="772071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1: Identify the Top 10 Countries by Landslide Frequency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Goal: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determine which countries experience the highest number of landslides using historical data.</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the number of landslide events per country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value_counts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top 10 using head(10).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with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sns.barplot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Visualization: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 chart of top 10 countries with the most landslide incidents.</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Result: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Nepal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Indonesia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among the top affected countries.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countries often have mountainous terrain and heavy seasonal rainfall.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Conclusion: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shows 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geographical distribution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highlights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regions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helping prioritize safety measures in those areas.</a:t>
            </a:r>
          </a:p>
        </p:txBody>
      </p:sp>
      <p:pic>
        <p:nvPicPr>
          <p:cNvPr id="6" name="Picture 5">
            <a:extLst>
              <a:ext uri="{FF2B5EF4-FFF2-40B4-BE49-F238E27FC236}">
                <a16:creationId xmlns:a16="http://schemas.microsoft.com/office/drawing/2014/main" id="{04DBB58A-5E5C-65BE-40EA-79F29346A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7107" y="0"/>
            <a:ext cx="4473606" cy="2949934"/>
          </a:xfrm>
          <a:prstGeom prst="rect">
            <a:avLst/>
          </a:prstGeom>
        </p:spPr>
      </p:pic>
      <p:pic>
        <p:nvPicPr>
          <p:cNvPr id="8" name="Picture 7">
            <a:extLst>
              <a:ext uri="{FF2B5EF4-FFF2-40B4-BE49-F238E27FC236}">
                <a16:creationId xmlns:a16="http://schemas.microsoft.com/office/drawing/2014/main" id="{42C61EDA-242F-E06E-A971-93A99AACA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6447" y="3673503"/>
            <a:ext cx="4333461" cy="3184497"/>
          </a:xfrm>
          <a:prstGeom prst="rect">
            <a:avLst/>
          </a:prstGeom>
        </p:spPr>
      </p:pic>
    </p:spTree>
    <p:extLst>
      <p:ext uri="{BB962C8B-B14F-4D97-AF65-F5344CB8AC3E}">
        <p14:creationId xmlns:p14="http://schemas.microsoft.com/office/powerpoint/2010/main" val="343686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D84A55E8-B8EB-AF8A-7FFD-A5A60CC23792}"/>
              </a:ext>
            </a:extLst>
          </p:cNvPr>
          <p:cNvSpPr txBox="1">
            <a:spLocks noGrp="1" noChangeArrowheads="1"/>
          </p:cNvSpPr>
          <p:nvPr>
            <p:ph type="ctrTitle"/>
          </p:nvPr>
        </p:nvSpPr>
        <p:spPr bwMode="auto">
          <a:xfrm>
            <a:off x="0" y="817573"/>
            <a:ext cx="7370859"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914400" eaLnBrk="0" fontAlgn="base" hangingPunct="0">
              <a:spcAft>
                <a:spcPct val="0"/>
              </a:spcAft>
            </a:pPr>
            <a:r>
              <a:rPr lang="en-US" altLang="en-US" sz="1800" b="1" dirty="0">
                <a:ln>
                  <a:noFill/>
                </a:ln>
                <a:solidFill>
                  <a:schemeClr val="tx1"/>
                </a:solidFill>
                <a:effectLst/>
                <a:latin typeface="Times New Roman" panose="02020603050405020304" pitchFamily="18" charset="0"/>
                <a:cs typeface="Times New Roman" panose="02020603050405020304" pitchFamily="18" charset="0"/>
              </a:rPr>
              <a:t>🎯 OBJECTIVE 2: Analyze Fatalities vs Injuries</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200" b="1" dirty="0">
                <a:ln>
                  <a:noFill/>
                </a:ln>
                <a:solidFill>
                  <a:schemeClr val="tx1"/>
                </a:solidFill>
                <a:effectLst/>
                <a:latin typeface="Arial" panose="020B0604020202020204" pitchFamily="34" charset="0"/>
              </a:rPr>
              <a:t> </a:t>
            </a: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Goal:</a:t>
            </a:r>
            <a:br>
              <a:rPr lang="en-US" altLang="en-US" sz="1200" b="1" dirty="0">
                <a:ln>
                  <a:noFill/>
                </a:ln>
                <a:solidFill>
                  <a:schemeClr val="tx1"/>
                </a:solidFill>
                <a:effectLst/>
                <a:latin typeface="Arial" panose="020B0604020202020204" pitchFamily="34" charset="0"/>
              </a:rPr>
            </a:b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To understand the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relationship between the number of injuries and fatalities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in landslides.</a:t>
            </a:r>
            <a:br>
              <a:rPr lang="en-US" altLang="en-US" sz="1200" dirty="0">
                <a:ln>
                  <a:noFill/>
                </a:ln>
                <a:solidFill>
                  <a:schemeClr val="tx1"/>
                </a:solidFill>
                <a:effectLst/>
                <a:latin typeface="Times New Roman" panose="02020603050405020304" pitchFamily="18" charset="0"/>
                <a:cs typeface="Times New Roman" panose="02020603050405020304" pitchFamily="18" charset="0"/>
              </a:rPr>
            </a:br>
            <a:endParaRPr lang="en-US" altLang="en-US" sz="12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b="1" dirty="0">
                <a:ln>
                  <a:noFill/>
                </a:ln>
                <a:solidFill>
                  <a:schemeClr val="tx1"/>
                </a:solidFill>
                <a:effectLst/>
                <a:latin typeface="Arial" panose="020B0604020202020204" pitchFamily="34" charset="0"/>
              </a:rPr>
              <a:t> </a:t>
            </a: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Method:</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Used </a:t>
            </a:r>
            <a:r>
              <a:rPr lang="en-US" altLang="en-US" sz="1200" dirty="0" err="1">
                <a:ln>
                  <a:noFill/>
                </a:ln>
                <a:solidFill>
                  <a:schemeClr val="tx1"/>
                </a:solidFill>
                <a:effectLst/>
                <a:latin typeface="Times New Roman" panose="02020603050405020304" pitchFamily="18" charset="0"/>
                <a:cs typeface="Times New Roman" panose="02020603050405020304" pitchFamily="18" charset="0"/>
              </a:rPr>
              <a:t>sns.scatterplot</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with:</a:t>
            </a:r>
          </a:p>
          <a:p>
            <a:pPr marL="457200" lvl="1" algn="l" defTabSz="914400" rtl="0" eaLnBrk="0" fontAlgn="base" hangingPunct="0">
              <a:spcBef>
                <a:spcPct val="0"/>
              </a:spcBef>
              <a:spcAft>
                <a:spcPct val="0"/>
              </a:spcAft>
              <a:buFontTx/>
              <a:buChar char="•"/>
            </a:pPr>
            <a:r>
              <a:rPr lang="en-US" altLang="en-US" sz="1200" kern="0" dirty="0">
                <a:solidFill>
                  <a:schemeClr val="tx1"/>
                </a:solidFill>
                <a:latin typeface="Times New Roman" panose="02020603050405020304" pitchFamily="18" charset="0"/>
                <a:cs typeface="Times New Roman" panose="02020603050405020304" pitchFamily="18" charset="0"/>
              </a:rPr>
              <a:t>X-axis: Injuries</a:t>
            </a:r>
          </a:p>
          <a:p>
            <a:pPr marL="457200" lvl="1" algn="l" defTabSz="914400" rtl="0" eaLnBrk="0" fontAlgn="base" hangingPunct="0">
              <a:spcBef>
                <a:spcPct val="0"/>
              </a:spcBef>
              <a:spcAft>
                <a:spcPct val="0"/>
              </a:spcAft>
              <a:buFontTx/>
              <a:buChar char="•"/>
            </a:pPr>
            <a:r>
              <a:rPr lang="en-US" altLang="en-US" sz="1200" kern="0" dirty="0">
                <a:solidFill>
                  <a:schemeClr val="tx1"/>
                </a:solidFill>
                <a:latin typeface="Times New Roman" panose="02020603050405020304" pitchFamily="18" charset="0"/>
                <a:cs typeface="Times New Roman" panose="02020603050405020304" pitchFamily="18" charset="0"/>
              </a:rPr>
              <a:t>Y-axis: Fatalities</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Visualization:</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Scatter plot showing distribution of events based on injuries and deaths.</a:t>
            </a:r>
            <a:br>
              <a:rPr lang="en-US" altLang="en-US" sz="1200" dirty="0">
                <a:ln>
                  <a:noFill/>
                </a:ln>
                <a:solidFill>
                  <a:schemeClr val="tx1"/>
                </a:solidFill>
                <a:effectLst/>
                <a:latin typeface="Times New Roman" panose="02020603050405020304" pitchFamily="18" charset="0"/>
                <a:cs typeface="Times New Roman" panose="02020603050405020304" pitchFamily="18" charset="0"/>
              </a:rPr>
            </a:br>
            <a:endParaRPr lang="en-US" altLang="en-US" sz="12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Result:</a:t>
            </a: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Most landslide events involve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low injuries and fatalities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However,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a few outliers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(extreme cases) result in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very high death tolls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Conclusion:</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While most landslides are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not fatal</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rare catastrophic events do occur, underlining the importance of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early warning systems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and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rescue readiness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8FEB831D-102C-E2E0-6CBF-F74180C6B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730" y="0"/>
            <a:ext cx="4691270" cy="2631882"/>
          </a:xfrm>
          <a:prstGeom prst="rect">
            <a:avLst/>
          </a:prstGeom>
        </p:spPr>
      </p:pic>
      <p:pic>
        <p:nvPicPr>
          <p:cNvPr id="12" name="Picture 11">
            <a:extLst>
              <a:ext uri="{FF2B5EF4-FFF2-40B4-BE49-F238E27FC236}">
                <a16:creationId xmlns:a16="http://schemas.microsoft.com/office/drawing/2014/main" id="{FEA9CDE2-3A2F-7B79-F00B-A269DCFDDB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340" y="3260035"/>
            <a:ext cx="4627659" cy="3597965"/>
          </a:xfrm>
          <a:prstGeom prst="rect">
            <a:avLst/>
          </a:prstGeom>
        </p:spPr>
      </p:pic>
    </p:spTree>
    <p:extLst>
      <p:ext uri="{BB962C8B-B14F-4D97-AF65-F5344CB8AC3E}">
        <p14:creationId xmlns:p14="http://schemas.microsoft.com/office/powerpoint/2010/main" val="1295279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0">
            <a:extLst>
              <a:ext uri="{FF2B5EF4-FFF2-40B4-BE49-F238E27FC236}">
                <a16:creationId xmlns:a16="http://schemas.microsoft.com/office/drawing/2014/main" id="{C2DD43C7-1D62-7003-AF08-7F787794AFEE}"/>
              </a:ext>
            </a:extLst>
          </p:cNvPr>
          <p:cNvSpPr>
            <a:spLocks noChangeArrowheads="1"/>
          </p:cNvSpPr>
          <p:nvPr/>
        </p:nvSpPr>
        <p:spPr bwMode="auto">
          <a:xfrm>
            <a:off x="395364" y="8675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19" name="Rectangle 12">
            <a:extLst>
              <a:ext uri="{FF2B5EF4-FFF2-40B4-BE49-F238E27FC236}">
                <a16:creationId xmlns:a16="http://schemas.microsoft.com/office/drawing/2014/main" id="{F3563A33-C8DB-15D0-3950-E732E1A6F151}"/>
              </a:ext>
            </a:extLst>
          </p:cNvPr>
          <p:cNvSpPr>
            <a:spLocks noChangeArrowheads="1"/>
          </p:cNvSpPr>
          <p:nvPr/>
        </p:nvSpPr>
        <p:spPr bwMode="auto">
          <a:xfrm>
            <a:off x="0" y="-1206526"/>
            <a:ext cx="7437664" cy="69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OBJECTIVE 3: Compare Rainfall vs Other Triggers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Goal: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whether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main trigger compared to other causes like earthquakes, volcanoes, or construction.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lambda function to classify triggers as “Rainfall”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frequency using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value_counts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plt.pie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bar chart for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Pie chart showing the percentage of rainfall-triggered vs. other-triggered landslides</a:t>
            </a:r>
            <a:r>
              <a:rPr kumimoji="0" lang="en-US" altLang="en-US" sz="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is the most frequent trigger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 large margin.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the idea that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monitoring</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vital for landslide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Prevention efforts should focus on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forecasting</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during monsoon seasons.</a:t>
            </a:r>
          </a:p>
        </p:txBody>
      </p:sp>
      <p:pic>
        <p:nvPicPr>
          <p:cNvPr id="23" name="Picture 22">
            <a:extLst>
              <a:ext uri="{FF2B5EF4-FFF2-40B4-BE49-F238E27FC236}">
                <a16:creationId xmlns:a16="http://schemas.microsoft.com/office/drawing/2014/main" id="{DD07D55B-9896-A694-42AC-AF556C6D62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1915" y="0"/>
            <a:ext cx="5040086" cy="2645229"/>
          </a:xfrm>
          <a:prstGeom prst="rect">
            <a:avLst/>
          </a:prstGeom>
        </p:spPr>
      </p:pic>
      <p:pic>
        <p:nvPicPr>
          <p:cNvPr id="25" name="Picture 24">
            <a:extLst>
              <a:ext uri="{FF2B5EF4-FFF2-40B4-BE49-F238E27FC236}">
                <a16:creationId xmlns:a16="http://schemas.microsoft.com/office/drawing/2014/main" id="{C52CEBD5-9AAA-9501-CA82-30A04F286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914" y="3110593"/>
            <a:ext cx="5040086" cy="3747407"/>
          </a:xfrm>
          <a:prstGeom prst="rect">
            <a:avLst/>
          </a:prstGeom>
        </p:spPr>
      </p:pic>
    </p:spTree>
    <p:extLst>
      <p:ext uri="{BB962C8B-B14F-4D97-AF65-F5344CB8AC3E}">
        <p14:creationId xmlns:p14="http://schemas.microsoft.com/office/powerpoint/2010/main" val="2963408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289EB72C-B491-6CF6-7839-451AB270B56A}"/>
              </a:ext>
            </a:extLst>
          </p:cNvPr>
          <p:cNvSpPr>
            <a:spLocks noGrp="1" noChangeArrowheads="1"/>
          </p:cNvSpPr>
          <p:nvPr>
            <p:ph type="ctrTitle"/>
          </p:nvPr>
        </p:nvSpPr>
        <p:spPr bwMode="auto">
          <a:xfrm>
            <a:off x="1" y="1020648"/>
            <a:ext cx="6718852" cy="481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OBJECTIVE 4: Quarterly Landslide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seasonal patterns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landslide occurrences.</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event dates to quarters using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dt.to_period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occurrences per quarter.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 plot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show quarterly frequency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Line graph showing frequency of landslides by quarter.</a:t>
            </a:r>
            <a:br>
              <a:rPr kumimoji="0" lang="en-US" altLang="en-US" sz="1200" b="0" i="0" u="none" strike="noStrike" cap="none" normalizeH="0" baseline="0" dirty="0">
                <a:ln>
                  <a:noFill/>
                </a:ln>
                <a:solidFill>
                  <a:schemeClr val="tx1"/>
                </a:solidFill>
                <a:effectLst/>
                <a:latin typeface="Arial" panose="020B0604020202020204" pitchFamily="34" charset="0"/>
              </a:rPr>
            </a:b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Peak landslide activity observed during </a:t>
            </a:r>
            <a:r>
              <a:rPr kumimoji="0" lang="en-US" altLang="en-US" sz="1200" b="1" i="0" u="none" strike="noStrike" cap="none" normalizeH="0" baseline="0" dirty="0">
                <a:ln>
                  <a:noFill/>
                </a:ln>
                <a:solidFill>
                  <a:schemeClr val="tx1"/>
                </a:solidFill>
                <a:effectLst/>
                <a:latin typeface="Arial" panose="020B0604020202020204" pitchFamily="34" charset="0"/>
              </a:rPr>
              <a:t>Q2 and Q3</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These quarters align with </a:t>
            </a:r>
            <a:r>
              <a:rPr kumimoji="0" lang="en-US" altLang="en-US" sz="1200" b="1" i="0" u="none" strike="noStrike" cap="none" normalizeH="0" baseline="0" dirty="0">
                <a:ln>
                  <a:noFill/>
                </a:ln>
                <a:solidFill>
                  <a:schemeClr val="tx1"/>
                </a:solidFill>
                <a:effectLst/>
                <a:latin typeface="Arial" panose="020B0604020202020204" pitchFamily="34" charset="0"/>
              </a:rPr>
              <a:t>monsoon/rainy seasons</a:t>
            </a:r>
            <a:r>
              <a:rPr kumimoji="0" lang="en-US" altLang="en-US" sz="1200" b="0" i="0" u="none" strike="noStrike" cap="none" normalizeH="0" baseline="0" dirty="0">
                <a:ln>
                  <a:noFill/>
                </a:ln>
                <a:solidFill>
                  <a:schemeClr val="tx1"/>
                </a:solidFill>
                <a:effectLst/>
                <a:latin typeface="Arial" panose="020B0604020202020204" pitchFamily="34" charset="0"/>
              </a:rPr>
              <a:t> in many countries.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Landslide risk is </a:t>
            </a:r>
            <a:r>
              <a:rPr kumimoji="0" lang="en-US" altLang="en-US" sz="1200" b="1" i="0" u="none" strike="noStrike" cap="none" normalizeH="0" baseline="0" dirty="0">
                <a:ln>
                  <a:noFill/>
                </a:ln>
                <a:solidFill>
                  <a:schemeClr val="tx1"/>
                </a:solidFill>
                <a:effectLst/>
                <a:latin typeface="Arial" panose="020B0604020202020204" pitchFamily="34" charset="0"/>
              </a:rPr>
              <a:t>seasonal</a:t>
            </a:r>
            <a:r>
              <a:rPr kumimoji="0" lang="en-US" altLang="en-US" sz="1200" b="0" i="0" u="none" strike="noStrike" cap="none" normalizeH="0" baseline="0" dirty="0">
                <a:ln>
                  <a:noFill/>
                </a:ln>
                <a:solidFill>
                  <a:schemeClr val="tx1"/>
                </a:solidFill>
                <a:effectLst/>
                <a:latin typeface="Arial" panose="020B0604020202020204" pitchFamily="34" charset="0"/>
              </a:rPr>
              <a:t>; emergency services and infrastructure teams can </a:t>
            </a:r>
            <a:r>
              <a:rPr kumimoji="0" lang="en-US" altLang="en-US" sz="1200" b="1" i="0" u="none" strike="noStrike" cap="none" normalizeH="0" baseline="0" dirty="0">
                <a:ln>
                  <a:noFill/>
                </a:ln>
                <a:solidFill>
                  <a:schemeClr val="tx1"/>
                </a:solidFill>
                <a:effectLst/>
                <a:latin typeface="Arial" panose="020B0604020202020204" pitchFamily="34" charset="0"/>
              </a:rPr>
              <a:t>prepare in advance</a:t>
            </a:r>
            <a:r>
              <a:rPr kumimoji="0" lang="en-US" altLang="en-US" sz="1200" b="0" i="0" u="none" strike="noStrike" cap="none" normalizeH="0" baseline="0" dirty="0">
                <a:ln>
                  <a:noFill/>
                </a:ln>
                <a:solidFill>
                  <a:schemeClr val="tx1"/>
                </a:solidFill>
                <a:effectLst/>
                <a:latin typeface="Arial" panose="020B0604020202020204" pitchFamily="34" charset="0"/>
              </a:rPr>
              <a:t> during high-risk months.</a:t>
            </a:r>
          </a:p>
        </p:txBody>
      </p:sp>
      <p:pic>
        <p:nvPicPr>
          <p:cNvPr id="10" name="Picture 9">
            <a:extLst>
              <a:ext uri="{FF2B5EF4-FFF2-40B4-BE49-F238E27FC236}">
                <a16:creationId xmlns:a16="http://schemas.microsoft.com/office/drawing/2014/main" id="{09CE93A8-BF93-8BFF-2383-8FA97D3BF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4395" y="0"/>
            <a:ext cx="5717605" cy="2600688"/>
          </a:xfrm>
          <a:prstGeom prst="rect">
            <a:avLst/>
          </a:prstGeom>
        </p:spPr>
      </p:pic>
      <p:pic>
        <p:nvPicPr>
          <p:cNvPr id="12" name="Picture 11">
            <a:extLst>
              <a:ext uri="{FF2B5EF4-FFF2-40B4-BE49-F238E27FC236}">
                <a16:creationId xmlns:a16="http://schemas.microsoft.com/office/drawing/2014/main" id="{263930F4-1467-E010-DB1B-3A6B6A5BF2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5729" y="3428999"/>
            <a:ext cx="5616271" cy="3387257"/>
          </a:xfrm>
          <a:prstGeom prst="rect">
            <a:avLst/>
          </a:prstGeom>
        </p:spPr>
      </p:pic>
    </p:spTree>
    <p:extLst>
      <p:ext uri="{BB962C8B-B14F-4D97-AF65-F5344CB8AC3E}">
        <p14:creationId xmlns:p14="http://schemas.microsoft.com/office/powerpoint/2010/main" val="741460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9A94890-B7D5-EBC0-45E6-5BA1D624306C}"/>
              </a:ext>
            </a:extLst>
          </p:cNvPr>
          <p:cNvSpPr>
            <a:spLocks noGrp="1" noChangeArrowheads="1"/>
          </p:cNvSpPr>
          <p:nvPr>
            <p:ph type="ctrTitle"/>
          </p:nvPr>
        </p:nvSpPr>
        <p:spPr bwMode="auto">
          <a:xfrm>
            <a:off x="87465" y="635927"/>
            <a:ext cx="6902955"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5: Correlation Heatmap of Numerical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explore relationships among numerical variables like: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Fatalities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Injuries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from settlements,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df.corr</a:t>
            </a:r>
            <a:r>
              <a:rPr kumimoji="0" lang="en-US" altLang="en-US" sz="1200" b="0" i="0" u="none" strike="noStrike" cap="none" normalizeH="0" baseline="0" dirty="0">
                <a:ln>
                  <a:noFill/>
                </a:ln>
                <a:solidFill>
                  <a:schemeClr val="tx1"/>
                </a:solidFill>
                <a:effectLst/>
                <a:latin typeface="Arial Unicode MS" panose="020B0604020202020204" pitchFamily="34" charset="-128"/>
              </a:rPr>
              <a:t>()</a:t>
            </a:r>
            <a:r>
              <a:rPr kumimoji="0" lang="en-US" altLang="en-US" sz="1200" b="0" i="0" u="none" strike="noStrike" cap="none" normalizeH="0" baseline="0" dirty="0">
                <a:ln>
                  <a:noFill/>
                </a:ln>
                <a:solidFill>
                  <a:schemeClr val="tx1"/>
                </a:solidFill>
                <a:effectLst/>
              </a:rPr>
              <a:t> to generate correlation matrix.</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Visualize with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sns.heatmap</a:t>
            </a:r>
            <a:r>
              <a:rPr kumimoji="0" lang="en-US" altLang="en-US" sz="1200" b="0" i="0" u="none" strike="noStrike" cap="none" normalizeH="0" baseline="0" dirty="0">
                <a:ln>
                  <a:noFill/>
                </a:ln>
                <a:solidFill>
                  <a:schemeClr val="tx1"/>
                </a:solidFill>
                <a:effectLst/>
                <a:latin typeface="Arial Unicode MS" panose="020B0604020202020204" pitchFamily="34" charset="-128"/>
              </a:rPr>
              <a:t>()</a:t>
            </a:r>
            <a:r>
              <a:rPr kumimoji="0" lang="en-US" altLang="en-US" sz="1200" b="0" i="0" u="none" strike="noStrike" cap="none" normalizeH="0" baseline="0" dirty="0">
                <a:ln>
                  <a:noFill/>
                </a:ln>
                <a:solidFill>
                  <a:schemeClr val="tx1"/>
                </a:solidFill>
                <a:effectLst/>
              </a:rPr>
              <a:t> (with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annot</a:t>
            </a:r>
            <a:r>
              <a:rPr kumimoji="0" lang="en-US" altLang="en-US" sz="1200" b="0" i="0" u="none" strike="noStrike" cap="none" normalizeH="0" baseline="0" dirty="0">
                <a:ln>
                  <a:noFill/>
                </a:ln>
                <a:solidFill>
                  <a:schemeClr val="tx1"/>
                </a:solidFill>
                <a:effectLst/>
                <a:latin typeface="Arial Unicode MS" panose="020B0604020202020204" pitchFamily="34" charset="-128"/>
              </a:rPr>
              <a:t>=True</a:t>
            </a:r>
            <a:r>
              <a:rPr kumimoji="0" lang="en-US" altLang="en-US" sz="1200" b="0" i="0" u="none" strike="noStrike" cap="none" normalizeH="0" baseline="0" dirty="0">
                <a:ln>
                  <a:noFill/>
                </a:ln>
                <a:solidFill>
                  <a:schemeClr val="tx1"/>
                </a:solidFill>
                <a:effectLst/>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Visualization:</a:t>
            </a:r>
            <a:br>
              <a:rPr kumimoji="0" lang="en-US" altLang="en-US" sz="1400" b="1" i="0" u="none" strike="noStrike" cap="none" normalizeH="0" baseline="0" dirty="0">
                <a:ln>
                  <a:noFill/>
                </a:ln>
                <a:solidFill>
                  <a:schemeClr val="tx1"/>
                </a:solidFill>
                <a:effectLst/>
                <a:latin typeface="Arial" panose="020B0604020202020204" pitchFamily="34" charset="0"/>
              </a:rPr>
            </a:b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 heatmap with colors representing strength and direction of correlation.</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strong positive correlations</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weak negative correlations, e.g., higher population doesn’t always mean more fatalities.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 interactions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linear relationships don't fully explain landslide impacts — advanced models may be needed for accurate prediction.</a:t>
            </a:r>
          </a:p>
        </p:txBody>
      </p:sp>
      <p:pic>
        <p:nvPicPr>
          <p:cNvPr id="6" name="Picture 5">
            <a:extLst>
              <a:ext uri="{FF2B5EF4-FFF2-40B4-BE49-F238E27FC236}">
                <a16:creationId xmlns:a16="http://schemas.microsoft.com/office/drawing/2014/main" id="{031EE8D0-C34C-C7F9-E5D6-5ED229E90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0420" y="0"/>
            <a:ext cx="5201580" cy="2425148"/>
          </a:xfrm>
          <a:prstGeom prst="rect">
            <a:avLst/>
          </a:prstGeom>
        </p:spPr>
      </p:pic>
      <p:pic>
        <p:nvPicPr>
          <p:cNvPr id="8" name="Picture 7">
            <a:extLst>
              <a:ext uri="{FF2B5EF4-FFF2-40B4-BE49-F238E27FC236}">
                <a16:creationId xmlns:a16="http://schemas.microsoft.com/office/drawing/2014/main" id="{86D8ECE9-2EA2-166C-580C-FAC81C8C2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0421" y="3045350"/>
            <a:ext cx="5201579" cy="3812649"/>
          </a:xfrm>
          <a:prstGeom prst="rect">
            <a:avLst/>
          </a:prstGeom>
        </p:spPr>
      </p:pic>
    </p:spTree>
    <p:extLst>
      <p:ext uri="{BB962C8B-B14F-4D97-AF65-F5344CB8AC3E}">
        <p14:creationId xmlns:p14="http://schemas.microsoft.com/office/powerpoint/2010/main" val="106008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B1DDA7F-C3FC-DBE2-7B5F-5E7AB5A15411}"/>
              </a:ext>
            </a:extLst>
          </p:cNvPr>
          <p:cNvSpPr>
            <a:spLocks noGrp="1" noChangeArrowheads="1"/>
          </p:cNvSpPr>
          <p:nvPr>
            <p:ph type="ctrTitle"/>
          </p:nvPr>
        </p:nvSpPr>
        <p:spPr bwMode="auto">
          <a:xfrm>
            <a:off x="159026" y="1027626"/>
            <a:ext cx="10373553"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Pair Plot of Numerical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visually explore the distribution and pairwise relationships among multiple numeric fields</a:t>
            </a:r>
            <a:r>
              <a:rPr kumimoji="0" lang="en-US" altLang="en-US" sz="800" b="0" i="0" u="none" strike="noStrike" cap="none" normalizeH="0" baseline="0" dirty="0">
                <a:ln>
                  <a:noFill/>
                </a:ln>
                <a:solidFill>
                  <a:schemeClr val="tx1"/>
                </a:solidFill>
                <a:effectLst/>
                <a:latin typeface="Arial" panose="020B0604020202020204" pitchFamily="34" charset="0"/>
              </a:rPr>
              <a:t>.</a:t>
            </a:r>
            <a:br>
              <a:rPr kumimoji="0" lang="en-US" altLang="en-US" sz="800" b="0"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sns.pairplot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numeric fields like: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Fatalities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Injuries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Slope angle,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Grid of scatter plots (for pairwise relations) and histograms (for distribution).</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Reveals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outliers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strong linear patterns, but useful for spotting anomalies and data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Pair plots help visually validate assumptions and identify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irregularities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before modeling.</a:t>
            </a:r>
          </a:p>
        </p:txBody>
      </p:sp>
      <p:pic>
        <p:nvPicPr>
          <p:cNvPr id="6" name="Picture 5">
            <a:extLst>
              <a:ext uri="{FF2B5EF4-FFF2-40B4-BE49-F238E27FC236}">
                <a16:creationId xmlns:a16="http://schemas.microsoft.com/office/drawing/2014/main" id="{4F18F430-7C1B-8FBD-9D2C-01A8596EE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3638" y="2934031"/>
            <a:ext cx="4948362" cy="3868309"/>
          </a:xfrm>
          <a:prstGeom prst="rect">
            <a:avLst/>
          </a:prstGeom>
        </p:spPr>
      </p:pic>
      <p:pic>
        <p:nvPicPr>
          <p:cNvPr id="8" name="Picture 7">
            <a:extLst>
              <a:ext uri="{FF2B5EF4-FFF2-40B4-BE49-F238E27FC236}">
                <a16:creationId xmlns:a16="http://schemas.microsoft.com/office/drawing/2014/main" id="{EBBAE3D8-83D4-C70A-A566-D5A1BFCB2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3638" y="0"/>
            <a:ext cx="4948362" cy="2313829"/>
          </a:xfrm>
          <a:prstGeom prst="rect">
            <a:avLst/>
          </a:prstGeom>
        </p:spPr>
      </p:pic>
    </p:spTree>
    <p:extLst>
      <p:ext uri="{BB962C8B-B14F-4D97-AF65-F5344CB8AC3E}">
        <p14:creationId xmlns:p14="http://schemas.microsoft.com/office/powerpoint/2010/main" val="3600749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ubtitle 2">
            <a:extLst>
              <a:ext uri="{FF2B5EF4-FFF2-40B4-BE49-F238E27FC236}">
                <a16:creationId xmlns:a16="http://schemas.microsoft.com/office/drawing/2014/main" id="{02C16C1F-098B-5BA6-B98C-C822B4BA4693}"/>
              </a:ext>
            </a:extLst>
          </p:cNvPr>
          <p:cNvSpPr>
            <a:spLocks noGrp="1"/>
          </p:cNvSpPr>
          <p:nvPr>
            <p:ph type="ctrTitle"/>
          </p:nvPr>
        </p:nvSpPr>
        <p:spPr>
          <a:xfrm>
            <a:off x="81901" y="95416"/>
            <a:ext cx="6962955" cy="6667168"/>
          </a:xfrm>
        </p:spPr>
        <p:txBody>
          <a:bodyPr>
            <a:normAutofit fontScale="90000"/>
          </a:bodyPr>
          <a:lstStyle/>
          <a:p>
            <a:pPr algn="l">
              <a:buNone/>
            </a:pPr>
            <a:r>
              <a:rPr lang="en-US" sz="2000" dirty="0">
                <a:latin typeface="Times New Roman" panose="02020603050405020304" pitchFamily="18" charset="0"/>
                <a:cs typeface="Times New Roman" panose="02020603050405020304" pitchFamily="18" charset="0"/>
              </a:rPr>
              <a:t>Box Plots for Each Numeric Column</a:t>
            </a:r>
            <a:br>
              <a:rPr lang="en-US" sz="800" dirty="0"/>
            </a:br>
            <a:br>
              <a:rPr lang="en-US" sz="800" dirty="0"/>
            </a:br>
            <a:r>
              <a:rPr lang="en-US" sz="1600" b="1" dirty="0">
                <a:latin typeface="Times New Roman" panose="02020603050405020304" pitchFamily="18" charset="0"/>
                <a:cs typeface="Times New Roman" panose="02020603050405020304" pitchFamily="18" charset="0"/>
              </a:rPr>
              <a:t>Goal:</a:t>
            </a:r>
            <a:br>
              <a:rPr lang="en-US" sz="800" b="1" dirty="0"/>
            </a:br>
            <a:br>
              <a:rPr lang="en-US" sz="1300" b="1"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To detect </a:t>
            </a:r>
            <a:r>
              <a:rPr lang="en-US" sz="1300" b="1" dirty="0">
                <a:latin typeface="Times New Roman" panose="02020603050405020304" pitchFamily="18" charset="0"/>
                <a:cs typeface="Times New Roman" panose="02020603050405020304" pitchFamily="18" charset="0"/>
              </a:rPr>
              <a:t>outliers</a:t>
            </a:r>
            <a:r>
              <a:rPr lang="en-US" sz="1300" dirty="0">
                <a:latin typeface="Times New Roman" panose="02020603050405020304" pitchFamily="18" charset="0"/>
                <a:cs typeface="Times New Roman" panose="02020603050405020304" pitchFamily="18" charset="0"/>
              </a:rPr>
              <a:t> and understand the </a:t>
            </a:r>
            <a:r>
              <a:rPr lang="en-US" sz="1300" b="1" dirty="0">
                <a:latin typeface="Times New Roman" panose="02020603050405020304" pitchFamily="18" charset="0"/>
                <a:cs typeface="Times New Roman" panose="02020603050405020304" pitchFamily="18" charset="0"/>
              </a:rPr>
              <a:t>spread and distribution</a:t>
            </a:r>
            <a:r>
              <a:rPr lang="en-US" sz="1300" dirty="0">
                <a:latin typeface="Times New Roman" panose="02020603050405020304" pitchFamily="18" charset="0"/>
                <a:cs typeface="Times New Roman" panose="02020603050405020304" pitchFamily="18" charset="0"/>
              </a:rPr>
              <a:t> of individual numeric columns in the dataset.</a:t>
            </a:r>
            <a:br>
              <a:rPr lang="en-US" sz="1300" dirty="0">
                <a:latin typeface="Times New Roman" panose="02020603050405020304" pitchFamily="18" charset="0"/>
                <a:cs typeface="Times New Roman" panose="02020603050405020304" pitchFamily="18" charset="0"/>
              </a:rPr>
            </a:br>
            <a:br>
              <a:rPr lang="en-US" sz="800" dirty="0"/>
            </a:br>
            <a:r>
              <a:rPr lang="en-US" sz="1600" b="1" dirty="0">
                <a:latin typeface="Times New Roman" panose="02020603050405020304" pitchFamily="18" charset="0"/>
                <a:cs typeface="Times New Roman" panose="02020603050405020304" pitchFamily="18" charset="0"/>
              </a:rPr>
              <a:t>Method:</a:t>
            </a:r>
            <a:br>
              <a:rPr lang="en-US" sz="1600" b="1" dirty="0">
                <a:latin typeface="Times New Roman" panose="02020603050405020304" pitchFamily="18" charset="0"/>
                <a:cs typeface="Times New Roman" panose="02020603050405020304" pitchFamily="18" charset="0"/>
              </a:rPr>
            </a:br>
            <a:br>
              <a:rPr lang="en-US" sz="800" b="1" dirty="0"/>
            </a:br>
            <a:r>
              <a:rPr lang="en-US" sz="1300" dirty="0">
                <a:latin typeface="Times New Roman" panose="02020603050405020304" pitchFamily="18" charset="0"/>
                <a:cs typeface="Times New Roman" panose="02020603050405020304" pitchFamily="18" charset="0"/>
              </a:rPr>
              <a:t>Box plots were created for key numerical variables such as: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Fatalities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Injuries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Rainfall</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Slope Angle</a:t>
            </a:r>
            <a:r>
              <a:rPr lang="en-US" sz="1300" dirty="0">
                <a:latin typeface="Times New Roman" panose="02020603050405020304" pitchFamily="18" charset="0"/>
                <a:cs typeface="Times New Roman" panose="02020603050405020304" pitchFamily="18" charset="0"/>
              </a:rPr>
              <a:t>, etc.</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Each plot was arranged in a grid to enable side-by-side comparison of distributions.</a:t>
            </a:r>
            <a:br>
              <a:rPr lang="en-US" sz="800" dirty="0"/>
            </a:br>
            <a:br>
              <a:rPr lang="en-US" sz="800" dirty="0"/>
            </a:br>
            <a:r>
              <a:rPr lang="en-US" sz="1600" b="1" dirty="0">
                <a:latin typeface="Times New Roman" panose="02020603050405020304" pitchFamily="18" charset="0"/>
                <a:cs typeface="Times New Roman" panose="02020603050405020304" pitchFamily="18" charset="0"/>
              </a:rPr>
              <a:t>Visualization:</a:t>
            </a:r>
            <a:br>
              <a:rPr lang="en-US" sz="1300" b="1" dirty="0">
                <a:latin typeface="Times New Roman" panose="02020603050405020304" pitchFamily="18" charset="0"/>
                <a:cs typeface="Times New Roman" panose="02020603050405020304" pitchFamily="18" charset="0"/>
              </a:rPr>
            </a:br>
            <a:br>
              <a:rPr lang="en-US" sz="1300" b="1"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The </a:t>
            </a:r>
            <a:r>
              <a:rPr lang="en-US" sz="1300" b="1" dirty="0">
                <a:latin typeface="Times New Roman" panose="02020603050405020304" pitchFamily="18" charset="0"/>
                <a:cs typeface="Times New Roman" panose="02020603050405020304" pitchFamily="18" charset="0"/>
              </a:rPr>
              <a:t>box</a:t>
            </a:r>
            <a:r>
              <a:rPr lang="en-US" sz="1300" dirty="0">
                <a:latin typeface="Times New Roman" panose="02020603050405020304" pitchFamily="18" charset="0"/>
                <a:cs typeface="Times New Roman" panose="02020603050405020304" pitchFamily="18" charset="0"/>
              </a:rPr>
              <a:t> represents the middle 50% of the data (interquartile range).</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The </a:t>
            </a:r>
            <a:r>
              <a:rPr lang="en-US" sz="1300" b="1" dirty="0">
                <a:latin typeface="Times New Roman" panose="02020603050405020304" pitchFamily="18" charset="0"/>
                <a:cs typeface="Times New Roman" panose="02020603050405020304" pitchFamily="18" charset="0"/>
              </a:rPr>
              <a:t>line</a:t>
            </a:r>
            <a:r>
              <a:rPr lang="en-US" sz="1300" dirty="0">
                <a:latin typeface="Times New Roman" panose="02020603050405020304" pitchFamily="18" charset="0"/>
                <a:cs typeface="Times New Roman" panose="02020603050405020304" pitchFamily="18" charset="0"/>
              </a:rPr>
              <a:t> inside the box shows the </a:t>
            </a:r>
            <a:r>
              <a:rPr lang="en-US" sz="1300" b="1" dirty="0">
                <a:latin typeface="Times New Roman" panose="02020603050405020304" pitchFamily="18" charset="0"/>
                <a:cs typeface="Times New Roman" panose="02020603050405020304" pitchFamily="18" charset="0"/>
              </a:rPr>
              <a:t>median</a:t>
            </a:r>
            <a:r>
              <a:rPr lang="en-US" sz="1300" dirty="0">
                <a:latin typeface="Times New Roman" panose="02020603050405020304" pitchFamily="18" charset="0"/>
                <a:cs typeface="Times New Roman" panose="02020603050405020304" pitchFamily="18" charset="0"/>
              </a:rPr>
              <a:t>.</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Whiskers</a:t>
            </a:r>
            <a:r>
              <a:rPr lang="en-US" sz="1300" dirty="0">
                <a:latin typeface="Times New Roman" panose="02020603050405020304" pitchFamily="18" charset="0"/>
                <a:cs typeface="Times New Roman" panose="02020603050405020304" pitchFamily="18" charset="0"/>
              </a:rPr>
              <a:t> extend to show the full range of the data (excluding outliers).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Dots</a:t>
            </a:r>
            <a:r>
              <a:rPr lang="en-US" sz="1300" dirty="0">
                <a:latin typeface="Times New Roman" panose="02020603050405020304" pitchFamily="18" charset="0"/>
                <a:cs typeface="Times New Roman" panose="02020603050405020304" pitchFamily="18" charset="0"/>
              </a:rPr>
              <a:t> outside the whiskers indicate </a:t>
            </a:r>
            <a:r>
              <a:rPr lang="en-US" sz="1300" b="1" dirty="0">
                <a:latin typeface="Times New Roman" panose="02020603050405020304" pitchFamily="18" charset="0"/>
                <a:cs typeface="Times New Roman" panose="02020603050405020304" pitchFamily="18" charset="0"/>
              </a:rPr>
              <a:t>outliers</a:t>
            </a:r>
            <a:r>
              <a:rPr lang="en-US" sz="1300" dirty="0">
                <a:latin typeface="Times New Roman" panose="02020603050405020304" pitchFamily="18" charset="0"/>
                <a:cs typeface="Times New Roman" panose="02020603050405020304" pitchFamily="18" charset="0"/>
              </a:rPr>
              <a:t>.</a:t>
            </a:r>
            <a:br>
              <a:rPr lang="en-US" sz="1300" dirty="0">
                <a:latin typeface="Times New Roman" panose="02020603050405020304" pitchFamily="18" charset="0"/>
                <a:cs typeface="Times New Roman" panose="02020603050405020304" pitchFamily="18" charset="0"/>
              </a:rPr>
            </a:br>
            <a:br>
              <a:rPr lang="en-US" sz="800" dirty="0"/>
            </a:br>
            <a:br>
              <a:rPr lang="en-US" sz="800" dirty="0"/>
            </a:br>
            <a:r>
              <a:rPr lang="en-US" sz="1600" b="1" dirty="0">
                <a:latin typeface="Times New Roman" panose="02020603050405020304" pitchFamily="18" charset="0"/>
                <a:cs typeface="Times New Roman" panose="02020603050405020304" pitchFamily="18" charset="0"/>
              </a:rPr>
              <a:t>Result:</a:t>
            </a:r>
            <a:br>
              <a:rPr lang="en-US" sz="800" b="1" dirty="0"/>
            </a:br>
            <a:br>
              <a:rPr lang="en-US" sz="800" b="1" dirty="0"/>
            </a:br>
            <a:r>
              <a:rPr lang="en-US" sz="1300" dirty="0">
                <a:latin typeface="Times New Roman" panose="02020603050405020304" pitchFamily="18" charset="0"/>
                <a:cs typeface="Times New Roman" panose="02020603050405020304" pitchFamily="18" charset="0"/>
              </a:rPr>
              <a:t>Some variables showed a </a:t>
            </a:r>
            <a:r>
              <a:rPr lang="en-US" sz="1300" b="1" dirty="0">
                <a:latin typeface="Times New Roman" panose="02020603050405020304" pitchFamily="18" charset="0"/>
                <a:cs typeface="Times New Roman" panose="02020603050405020304" pitchFamily="18" charset="0"/>
              </a:rPr>
              <a:t>large number of outliers</a:t>
            </a:r>
            <a:r>
              <a:rPr lang="en-US" sz="1300" dirty="0">
                <a:latin typeface="Times New Roman" panose="02020603050405020304" pitchFamily="18" charset="0"/>
                <a:cs typeface="Times New Roman" panose="02020603050405020304" pitchFamily="18" charset="0"/>
              </a:rPr>
              <a:t>, especially fatalities and rainfall.</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Helped understand </a:t>
            </a:r>
            <a:r>
              <a:rPr lang="en-US" sz="1300" b="1" dirty="0">
                <a:latin typeface="Times New Roman" panose="02020603050405020304" pitchFamily="18" charset="0"/>
                <a:cs typeface="Times New Roman" panose="02020603050405020304" pitchFamily="18" charset="0"/>
              </a:rPr>
              <a:t>data variability</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skewness</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potential errors</a:t>
            </a:r>
            <a:r>
              <a:rPr lang="en-US" sz="1300" dirty="0">
                <a:latin typeface="Times New Roman" panose="02020603050405020304" pitchFamily="18" charset="0"/>
                <a:cs typeface="Times New Roman" panose="02020603050405020304" pitchFamily="18" charset="0"/>
              </a:rPr>
              <a:t> in values.</a:t>
            </a:r>
            <a:br>
              <a:rPr lang="en-US" sz="1300" dirty="0">
                <a:latin typeface="Times New Roman" panose="02020603050405020304" pitchFamily="18" charset="0"/>
                <a:cs typeface="Times New Roman" panose="02020603050405020304" pitchFamily="18" charset="0"/>
              </a:rPr>
            </a:br>
            <a:br>
              <a:rPr lang="en-US" sz="800" dirty="0"/>
            </a:br>
            <a:br>
              <a:rPr lang="en-US" sz="800" dirty="0"/>
            </a:br>
            <a:r>
              <a:rPr lang="en-US" sz="1600" b="1" dirty="0">
                <a:latin typeface="Times New Roman" panose="02020603050405020304" pitchFamily="18" charset="0"/>
                <a:cs typeface="Times New Roman" panose="02020603050405020304" pitchFamily="18" charset="0"/>
              </a:rPr>
              <a:t>Conclusion:</a:t>
            </a:r>
            <a:br>
              <a:rPr lang="en-US" sz="800" b="1" dirty="0"/>
            </a:br>
            <a:br>
              <a:rPr lang="en-US" sz="800" b="1" dirty="0"/>
            </a:br>
            <a:r>
              <a:rPr lang="en-US" sz="1300" dirty="0">
                <a:latin typeface="Times New Roman" panose="02020603050405020304" pitchFamily="18" charset="0"/>
                <a:cs typeface="Times New Roman" panose="02020603050405020304" pitchFamily="18" charset="0"/>
              </a:rPr>
              <a:t>Box plots are crucial for </a:t>
            </a:r>
            <a:r>
              <a:rPr lang="en-US" sz="1300" b="1" dirty="0">
                <a:latin typeface="Times New Roman" panose="02020603050405020304" pitchFamily="18" charset="0"/>
                <a:cs typeface="Times New Roman" panose="02020603050405020304" pitchFamily="18" charset="0"/>
              </a:rPr>
              <a:t>spotting anomalies</a:t>
            </a:r>
            <a:r>
              <a:rPr lang="en-US" sz="1300" dirty="0">
                <a:latin typeface="Times New Roman" panose="02020603050405020304" pitchFamily="18" charset="0"/>
                <a:cs typeface="Times New Roman" panose="02020603050405020304" pitchFamily="18" charset="0"/>
              </a:rPr>
              <a:t> and assessing the </a:t>
            </a:r>
            <a:r>
              <a:rPr lang="en-US" sz="1300" b="1" dirty="0">
                <a:latin typeface="Times New Roman" panose="02020603050405020304" pitchFamily="18" charset="0"/>
                <a:cs typeface="Times New Roman" panose="02020603050405020304" pitchFamily="18" charset="0"/>
              </a:rPr>
              <a:t>statistical summary</a:t>
            </a:r>
            <a:r>
              <a:rPr lang="en-US" sz="1300" dirty="0">
                <a:latin typeface="Times New Roman" panose="02020603050405020304" pitchFamily="18" charset="0"/>
                <a:cs typeface="Times New Roman" panose="02020603050405020304" pitchFamily="18" charset="0"/>
              </a:rPr>
              <a:t> of each variable. This insight helps guide decisions on </a:t>
            </a:r>
            <a:r>
              <a:rPr lang="en-US" sz="1300" b="1" dirty="0">
                <a:latin typeface="Times New Roman" panose="02020603050405020304" pitchFamily="18" charset="0"/>
                <a:cs typeface="Times New Roman" panose="02020603050405020304" pitchFamily="18" charset="0"/>
              </a:rPr>
              <a:t>data cleaning</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feature selection</a:t>
            </a:r>
            <a:r>
              <a:rPr lang="en-US" sz="1300" dirty="0">
                <a:latin typeface="Times New Roman" panose="02020603050405020304" pitchFamily="18" charset="0"/>
                <a:cs typeface="Times New Roman" panose="02020603050405020304" pitchFamily="18" charset="0"/>
              </a:rPr>
              <a:t> for further analysis.</a:t>
            </a:r>
            <a:br>
              <a:rPr lang="en-US" sz="1300" dirty="0">
                <a:latin typeface="Times New Roman" panose="02020603050405020304" pitchFamily="18" charset="0"/>
                <a:cs typeface="Times New Roman" panose="02020603050405020304" pitchFamily="18" charset="0"/>
              </a:rPr>
            </a:br>
            <a:br>
              <a:rPr lang="en-US"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822943F8-6C44-19EE-CFEB-3DC05C9A0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391" y="0"/>
            <a:ext cx="5234609" cy="2200582"/>
          </a:xfrm>
          <a:prstGeom prst="rect">
            <a:avLst/>
          </a:prstGeom>
        </p:spPr>
      </p:pic>
      <p:pic>
        <p:nvPicPr>
          <p:cNvPr id="54" name="Picture 53">
            <a:extLst>
              <a:ext uri="{FF2B5EF4-FFF2-40B4-BE49-F238E27FC236}">
                <a16:creationId xmlns:a16="http://schemas.microsoft.com/office/drawing/2014/main" id="{50452050-AFD5-65E7-868C-CB59C7150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7391" y="2727297"/>
            <a:ext cx="5234609" cy="4130703"/>
          </a:xfrm>
          <a:prstGeom prst="rect">
            <a:avLst/>
          </a:prstGeom>
        </p:spPr>
      </p:pic>
    </p:spTree>
    <p:extLst>
      <p:ext uri="{BB962C8B-B14F-4D97-AF65-F5344CB8AC3E}">
        <p14:creationId xmlns:p14="http://schemas.microsoft.com/office/powerpoint/2010/main" val="195244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314D6652-E8E2-DAC5-4728-80EC1F1BCE2B}"/>
              </a:ext>
            </a:extLst>
          </p:cNvPr>
          <p:cNvSpPr>
            <a:spLocks noGrp="1" noChangeArrowheads="1"/>
          </p:cNvSpPr>
          <p:nvPr>
            <p:ph type="ctrTitle"/>
          </p:nvPr>
        </p:nvSpPr>
        <p:spPr bwMode="auto">
          <a:xfrm>
            <a:off x="389614" y="452462"/>
            <a:ext cx="3788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Summary of Objectives and Results: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4F872972-EBFC-C5B5-DFF3-6C62600691BB}"/>
              </a:ext>
            </a:extLst>
          </p:cNvPr>
          <p:cNvGraphicFramePr>
            <a:graphicFrameLocks noGrp="1"/>
          </p:cNvGraphicFramePr>
          <p:nvPr>
            <p:extLst>
              <p:ext uri="{D42A27DB-BD31-4B8C-83A1-F6EECF244321}">
                <p14:modId xmlns:p14="http://schemas.microsoft.com/office/powerpoint/2010/main" val="3717882457"/>
              </p:ext>
            </p:extLst>
          </p:nvPr>
        </p:nvGraphicFramePr>
        <p:xfrm>
          <a:off x="1755161" y="1731962"/>
          <a:ext cx="8672152" cy="4059240"/>
        </p:xfrm>
        <a:graphic>
          <a:graphicData uri="http://schemas.openxmlformats.org/drawingml/2006/table">
            <a:tbl>
              <a:tblPr>
                <a:tableStyleId>{5940675A-B579-460E-94D1-54222C63F5DA}</a:tableStyleId>
              </a:tblPr>
              <a:tblGrid>
                <a:gridCol w="2168038">
                  <a:extLst>
                    <a:ext uri="{9D8B030D-6E8A-4147-A177-3AD203B41FA5}">
                      <a16:colId xmlns:a16="http://schemas.microsoft.com/office/drawing/2014/main" val="323129147"/>
                    </a:ext>
                  </a:extLst>
                </a:gridCol>
                <a:gridCol w="2168038">
                  <a:extLst>
                    <a:ext uri="{9D8B030D-6E8A-4147-A177-3AD203B41FA5}">
                      <a16:colId xmlns:a16="http://schemas.microsoft.com/office/drawing/2014/main" val="4169447867"/>
                    </a:ext>
                  </a:extLst>
                </a:gridCol>
                <a:gridCol w="2168038">
                  <a:extLst>
                    <a:ext uri="{9D8B030D-6E8A-4147-A177-3AD203B41FA5}">
                      <a16:colId xmlns:a16="http://schemas.microsoft.com/office/drawing/2014/main" val="1557344769"/>
                    </a:ext>
                  </a:extLst>
                </a:gridCol>
                <a:gridCol w="2168038">
                  <a:extLst>
                    <a:ext uri="{9D8B030D-6E8A-4147-A177-3AD203B41FA5}">
                      <a16:colId xmlns:a16="http://schemas.microsoft.com/office/drawing/2014/main" val="2225463810"/>
                    </a:ext>
                  </a:extLst>
                </a:gridCol>
              </a:tblGrid>
              <a:tr h="306358">
                <a:tc>
                  <a:txBody>
                    <a:bodyPr/>
                    <a:lstStyle/>
                    <a:p>
                      <a:r>
                        <a:rPr lang="en-IN" sz="1500" b="1">
                          <a:latin typeface="Times New Roman" panose="02020603050405020304" pitchFamily="18" charset="0"/>
                          <a:cs typeface="Times New Roman" panose="02020603050405020304" pitchFamily="18" charset="0"/>
                        </a:rPr>
                        <a:t>Objective</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Goal</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Method Used</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Key Insight</a:t>
                      </a:r>
                      <a:endParaRPr lang="en-IN" sz="1500">
                        <a:latin typeface="Times New Roman" panose="02020603050405020304" pitchFamily="18" charset="0"/>
                        <a:cs typeface="Times New Roman" panose="02020603050405020304" pitchFamily="18" charset="0"/>
                      </a:endParaRPr>
                    </a:p>
                  </a:txBody>
                  <a:tcPr marL="76589" marR="76589" marT="38295" marB="38295" anchor="ctr"/>
                </a:tc>
                <a:extLst>
                  <a:ext uri="{0D108BD9-81ED-4DB2-BD59-A6C34878D82A}">
                    <a16:rowId xmlns:a16="http://schemas.microsoft.com/office/drawing/2014/main" val="134105661"/>
                  </a:ext>
                </a:extLst>
              </a:tr>
              <a:tr h="536126">
                <a:tc>
                  <a:txBody>
                    <a:bodyPr/>
                    <a:lstStyle/>
                    <a:p>
                      <a:r>
                        <a:rPr lang="en-IN" sz="1500" dirty="0">
                          <a:latin typeface="Times New Roman" panose="02020603050405020304" pitchFamily="18" charset="0"/>
                          <a:cs typeface="Times New Roman" panose="02020603050405020304" pitchFamily="18" charset="0"/>
                        </a:rPr>
                        <a:t>1. Top Countries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Find high-frequency regions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Bar chart</a:t>
                      </a:r>
                    </a:p>
                  </a:txBody>
                  <a:tcPr marL="76589" marR="76589" marT="38295" marB="38295" anchor="ctr"/>
                </a:tc>
                <a:tc>
                  <a:txBody>
                    <a:bodyPr/>
                    <a:lstStyle/>
                    <a:p>
                      <a:r>
                        <a:rPr lang="it-IT" sz="1500">
                          <a:latin typeface="Times New Roman" panose="02020603050405020304" pitchFamily="18" charset="0"/>
                          <a:cs typeface="Times New Roman" panose="02020603050405020304" pitchFamily="18" charset="0"/>
                        </a:rPr>
                        <a:t>India, Nepal, USA most prone</a:t>
                      </a:r>
                    </a:p>
                  </a:txBody>
                  <a:tcPr marL="76589" marR="76589" marT="38295" marB="38295" anchor="ctr"/>
                </a:tc>
                <a:extLst>
                  <a:ext uri="{0D108BD9-81ED-4DB2-BD59-A6C34878D82A}">
                    <a16:rowId xmlns:a16="http://schemas.microsoft.com/office/drawing/2014/main" val="141969000"/>
                  </a:ext>
                </a:extLst>
              </a:tr>
              <a:tr h="536126">
                <a:tc>
                  <a:txBody>
                    <a:bodyPr/>
                    <a:lstStyle/>
                    <a:p>
                      <a:r>
                        <a:rPr lang="en-IN" sz="1500">
                          <a:latin typeface="Times New Roman" panose="02020603050405020304" pitchFamily="18" charset="0"/>
                          <a:cs typeface="Times New Roman" panose="02020603050405020304" pitchFamily="18" charset="0"/>
                        </a:rPr>
                        <a:t>2. Fatalities vs Injuries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Analyze severity</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Scatter plot</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Most events mild, few extreme</a:t>
                      </a:r>
                    </a:p>
                  </a:txBody>
                  <a:tcPr marL="76589" marR="76589" marT="38295" marB="38295" anchor="ctr"/>
                </a:tc>
                <a:extLst>
                  <a:ext uri="{0D108BD9-81ED-4DB2-BD59-A6C34878D82A}">
                    <a16:rowId xmlns:a16="http://schemas.microsoft.com/office/drawing/2014/main" val="3861088877"/>
                  </a:ext>
                </a:extLst>
              </a:tr>
              <a:tr h="536126">
                <a:tc>
                  <a:txBody>
                    <a:bodyPr/>
                    <a:lstStyle/>
                    <a:p>
                      <a:r>
                        <a:rPr lang="en-IN" sz="1500">
                          <a:latin typeface="Times New Roman" panose="02020603050405020304" pitchFamily="18" charset="0"/>
                          <a:cs typeface="Times New Roman" panose="02020603050405020304" pitchFamily="18" charset="0"/>
                        </a:rPr>
                        <a:t>3. Rainfall vs Other</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Determine main trigger</a:t>
                      </a:r>
                    </a:p>
                  </a:txBody>
                  <a:tcPr marL="76589" marR="76589" marT="38295" marB="38295" anchor="ctr"/>
                </a:tc>
                <a:tc>
                  <a:txBody>
                    <a:bodyPr/>
                    <a:lstStyle/>
                    <a:p>
                      <a:r>
                        <a:rPr lang="en-IN" sz="1500" dirty="0">
                          <a:latin typeface="Times New Roman" panose="02020603050405020304" pitchFamily="18" charset="0"/>
                          <a:cs typeface="Times New Roman" panose="02020603050405020304" pitchFamily="18" charset="0"/>
                        </a:rPr>
                        <a:t>Pie chart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Rainfall is dominant trigger</a:t>
                      </a:r>
                    </a:p>
                  </a:txBody>
                  <a:tcPr marL="76589" marR="76589" marT="38295" marB="38295" anchor="ctr"/>
                </a:tc>
                <a:extLst>
                  <a:ext uri="{0D108BD9-81ED-4DB2-BD59-A6C34878D82A}">
                    <a16:rowId xmlns:a16="http://schemas.microsoft.com/office/drawing/2014/main" val="3270269497"/>
                  </a:ext>
                </a:extLst>
              </a:tr>
              <a:tr h="306358">
                <a:tc>
                  <a:txBody>
                    <a:bodyPr/>
                    <a:lstStyle/>
                    <a:p>
                      <a:r>
                        <a:rPr lang="en-IN" sz="1500">
                          <a:latin typeface="Times New Roman" panose="02020603050405020304" pitchFamily="18" charset="0"/>
                          <a:cs typeface="Times New Roman" panose="02020603050405020304" pitchFamily="18" charset="0"/>
                        </a:rPr>
                        <a:t>4. Quarterly Trends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Seasonal pattern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Line 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Spikes during monsoon</a:t>
                      </a:r>
                    </a:p>
                  </a:txBody>
                  <a:tcPr marL="76589" marR="76589" marT="38295" marB="38295" anchor="ctr"/>
                </a:tc>
                <a:extLst>
                  <a:ext uri="{0D108BD9-81ED-4DB2-BD59-A6C34878D82A}">
                    <a16:rowId xmlns:a16="http://schemas.microsoft.com/office/drawing/2014/main" val="3487748620"/>
                  </a:ext>
                </a:extLst>
              </a:tr>
              <a:tr h="536126">
                <a:tc>
                  <a:txBody>
                    <a:bodyPr/>
                    <a:lstStyle/>
                    <a:p>
                      <a:r>
                        <a:rPr lang="en-IN" sz="1500">
                          <a:latin typeface="Times New Roman" panose="02020603050405020304" pitchFamily="18" charset="0"/>
                          <a:cs typeface="Times New Roman" panose="02020603050405020304" pitchFamily="18" charset="0"/>
                        </a:rPr>
                        <a:t>5. Correlation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Understand relationships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Heatmap</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Weak correlations overall</a:t>
                      </a:r>
                    </a:p>
                  </a:txBody>
                  <a:tcPr marL="76589" marR="76589" marT="38295" marB="38295" anchor="ctr"/>
                </a:tc>
                <a:extLst>
                  <a:ext uri="{0D108BD9-81ED-4DB2-BD59-A6C34878D82A}">
                    <a16:rowId xmlns:a16="http://schemas.microsoft.com/office/drawing/2014/main" val="2709196992"/>
                  </a:ext>
                </a:extLst>
              </a:tr>
              <a:tr h="536126">
                <a:tc>
                  <a:txBody>
                    <a:bodyPr/>
                    <a:lstStyle/>
                    <a:p>
                      <a:r>
                        <a:rPr lang="en-IN" sz="1500">
                          <a:latin typeface="Times New Roman" panose="02020603050405020304" pitchFamily="18" charset="0"/>
                          <a:cs typeface="Times New Roman" panose="02020603050405020304" pitchFamily="18" charset="0"/>
                        </a:rPr>
                        <a:t>6. Pair 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Visual exploration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Pairplot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Useful for spotting outliers</a:t>
                      </a:r>
                    </a:p>
                  </a:txBody>
                  <a:tcPr marL="76589" marR="76589" marT="38295" marB="38295" anchor="ctr"/>
                </a:tc>
                <a:extLst>
                  <a:ext uri="{0D108BD9-81ED-4DB2-BD59-A6C34878D82A}">
                    <a16:rowId xmlns:a16="http://schemas.microsoft.com/office/drawing/2014/main" val="687592893"/>
                  </a:ext>
                </a:extLst>
              </a:tr>
              <a:tr h="765894">
                <a:tc>
                  <a:txBody>
                    <a:bodyPr/>
                    <a:lstStyle/>
                    <a:p>
                      <a:r>
                        <a:rPr lang="en-IN" sz="1500">
                          <a:latin typeface="Times New Roman" panose="02020603050405020304" pitchFamily="18" charset="0"/>
                          <a:cs typeface="Times New Roman" panose="02020603050405020304" pitchFamily="18" charset="0"/>
                        </a:rPr>
                        <a:t>7. Box Plots</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Detect outliers and understand spread</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Box plots for numeric columns</a:t>
                      </a:r>
                    </a:p>
                  </a:txBody>
                  <a:tcPr marL="76589" marR="76589" marT="38295" marB="38295" anchor="ctr"/>
                </a:tc>
                <a:tc>
                  <a:txBody>
                    <a:bodyPr/>
                    <a:lstStyle/>
                    <a:p>
                      <a:r>
                        <a:rPr lang="en-US" sz="1500" dirty="0">
                          <a:latin typeface="Times New Roman" panose="02020603050405020304" pitchFamily="18" charset="0"/>
                          <a:cs typeface="Times New Roman" panose="02020603050405020304" pitchFamily="18" charset="0"/>
                        </a:rPr>
                        <a:t>Shows variability, skewness, and outliers clearly</a:t>
                      </a:r>
                    </a:p>
                  </a:txBody>
                  <a:tcPr marL="76589" marR="76589" marT="38295" marB="38295" anchor="ctr"/>
                </a:tc>
                <a:extLst>
                  <a:ext uri="{0D108BD9-81ED-4DB2-BD59-A6C34878D82A}">
                    <a16:rowId xmlns:a16="http://schemas.microsoft.com/office/drawing/2014/main" val="3195409188"/>
                  </a:ext>
                </a:extLst>
              </a:tr>
            </a:tbl>
          </a:graphicData>
        </a:graphic>
      </p:graphicFrame>
    </p:spTree>
    <p:extLst>
      <p:ext uri="{BB962C8B-B14F-4D97-AF65-F5344CB8AC3E}">
        <p14:creationId xmlns:p14="http://schemas.microsoft.com/office/powerpoint/2010/main" val="826071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E1F-A61E-156E-9ED1-547F1000AEEA}"/>
              </a:ext>
            </a:extLst>
          </p:cNvPr>
          <p:cNvSpPr>
            <a:spLocks noGrp="1"/>
          </p:cNvSpPr>
          <p:nvPr>
            <p:ph type="ctrTitle"/>
          </p:nvPr>
        </p:nvSpPr>
        <p:spPr>
          <a:xfrm>
            <a:off x="1291180" y="2429499"/>
            <a:ext cx="9440034" cy="1828801"/>
          </a:xfrm>
        </p:spPr>
        <p:txBody>
          <a:bodyPr/>
          <a:lstStyle/>
          <a:p>
            <a:r>
              <a:rPr lang="en-US" dirty="0">
                <a:latin typeface="Times New Roman" panose="02020603050405020304" pitchFamily="18" charset="0"/>
                <a:cs typeface="Times New Roman" panose="02020603050405020304" pitchFamily="18" charset="0"/>
              </a:rPr>
              <a:t>Thankyou</a:t>
            </a:r>
            <a:br>
              <a:rPr lang="en-US" dirty="0"/>
            </a:br>
            <a:endParaRPr lang="en-IN" dirty="0"/>
          </a:p>
        </p:txBody>
      </p:sp>
    </p:spTree>
    <p:extLst>
      <p:ext uri="{BB962C8B-B14F-4D97-AF65-F5344CB8AC3E}">
        <p14:creationId xmlns:p14="http://schemas.microsoft.com/office/powerpoint/2010/main" val="31031267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137</TotalTime>
  <Words>1371</Words>
  <Application>Microsoft Office PowerPoint</Application>
  <PresentationFormat>Widescreen</PresentationFormat>
  <Paragraphs>181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 Unicode MS</vt:lpstr>
      <vt:lpstr>Arial</vt:lpstr>
      <vt:lpstr>Calibri</vt:lpstr>
      <vt:lpstr>Calisto MT</vt:lpstr>
      <vt:lpstr>Times New Roman</vt:lpstr>
      <vt:lpstr>Wingdings 2</vt:lpstr>
      <vt:lpstr>Slate</vt:lpstr>
      <vt:lpstr>    Title: Landslide Dataset Analysis Using EDA Include: Your Name: Abhay Chaudhary Reg. No: 12315216 Course Code: INT375 Guide: Mrs. Aashima Bansal Lovely School of Computer Science and Engineering   Lovely Professional University, Phagwara  </vt:lpstr>
      <vt:lpstr>🌍 Global Landslide Analysis  </vt:lpstr>
      <vt:lpstr>         Exploratory Data Analysis (EDA) Process (Understanding and Preparing the Landslide Dataset)  Exploratory Data Analysis (EDA) is the process of analyzing datasets to: - Understand structure and characteristics - Detect missing data, outliers, and anomalies - Identify patterns, correlations, and trends - Prepare data for modeling and predictions  Goal: Gain insights and prepare clean, structured data for analysis.  Steps Followed in EDA  1.Load Dataset: Using pandas.read_csv() 2. Inspect Structure: Use df.head(), df.info(), df.shape 3. Handle Missing Values: Fill or drop nulls based on type 4. Convert Dates: Use pd.to_datetime() for event_date 5. Replace Nulls with 0: For numeric fields like fatalities, injuries 6. Detect Outliers: Use Interquartile Range (IQR) method    </vt:lpstr>
      <vt:lpstr>🎯 OBJECTIVE 1: Identify the Top 10 Countries by Landslide Frequency   Goal: To determine which countries experience the highest number of landslides using historical data.  Method: Count the number of landslide events per country using value_counts(). Select the top 10 using head(10). Visualize with sns.barplot().   Visualization: Bar chart of top 10 countries with the most landslide incidents.  Result: India, USA, Nepal, and Indonesia are among the top affected countries. These countries often have mountainous terrain and heavy seasonal rainfall.   Conclusion: This shows the geographical distribution and highlights high-risk regions, helping prioritize safety measures in those areas.</vt:lpstr>
      <vt:lpstr>🎯 OBJECTIVE 2: Analyze Fatalities vs Injuries   Goal:  To understand the relationship between the number of injuries and fatalities in landslides.   Method:  Used sns.scatterplot() with: X-axis: Injuries Y-axis: Fatalities  Visualization:  Scatter plot showing distribution of events based on injuries and deaths.  Result: Most landslide events involve low injuries and fatalities. However, a few outliers (extreme cases) result in very high death tolls.  Conclusion:  While most landslides are not fatal, rare catastrophic events do occur, underlining the importance of early warning systems and rescue readiness.</vt:lpstr>
      <vt:lpstr>PowerPoint Presentation</vt:lpstr>
      <vt:lpstr>🎯 OBJECTIVE 4: Quarterly Landslide Trends  Goal:  To detect seasonal patterns in landslide occurrences.  Method:  Convert event dates to quarters using dt.to_period('Q'). Count occurrences per quarter. Use a line plot to show quarterly frequency.  Visualization:  Line graph showing frequency of landslides by quarter.  Result:  Peak landslide activity observed during Q2 and Q3. These quarters align with monsoon/rainy seasons in many countries.  Conclusion: Landslide risk is seasonal; emergency services and infrastructure teams can prepare in advance during high-risk months.</vt:lpstr>
      <vt:lpstr>OBJECTIVE 5: Correlation Heatmap of Numerical Variables  Goal:  To explore relationships among numerical variables like: Fatalities Injuries Population Distance from settlements, etc.  Method:  Use df.corr() to generate correlation matrix. Visualize with sns.heatmap() (with annot=True).  Visualization:  Correlation heatmap with colors representing strength and direction of correlation.  Result:  No strong positive correlations. Some weak negative correlations, e.g., higher population doesn’t always mean more fatalities. Suggests complex interactions between variables.  Conclusion:  Simple linear relationships don't fully explain landslide impacts — advanced models may be needed for accurate prediction.</vt:lpstr>
      <vt:lpstr>Pair Plot of Numerical Variables  Goal:  To visually explore the distribution and pairwise relationships among multiple numeric fields.  Method: Use sns.pairplot() on numeric fields like: Fatalities Injuries Rainfall Slope angle, etc.  Visualization:  Grid of scatter plots (for pairwise relations) and histograms (for distribution).  Result: Reveals outliers clearly. No strong linear patterns, but useful for spotting anomalies and data structure.   Conclusion:  Pair plots help visually validate assumptions and identify data irregularities before modeling.</vt:lpstr>
      <vt:lpstr>Box Plots for Each Numeric Column  Goal:  To detect outliers and understand the spread and distribution of individual numeric columns in the dataset.  Method:  Box plots were created for key numerical variables such as: Fatalities Injuries Rainfall Slope Angle, etc. Each plot was arranged in a grid to enable side-by-side comparison of distributions.  Visualization:  The box represents the middle 50% of the data (interquartile range). The line inside the box shows the median. Whiskers extend to show the full range of the data (excluding outliers). Dots outside the whiskers indicate outliers.   Result:  Some variables showed a large number of outliers, especially fatalities and rainfall. Helped understand data variability, skewness, and potential errors in values.   Conclusion:  Box plots are crucial for spotting anomalies and assessing the statistical summary of each variable. This insight helps guide decisions on data cleaning and feature selection for further analysis.  </vt:lpstr>
      <vt:lpstr>Summary of Objectives and Results: </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Abhay chaudhary</dc:creator>
  <cp:lastModifiedBy>Abhay chaudhary</cp:lastModifiedBy>
  <cp:revision>2</cp:revision>
  <dcterms:created xsi:type="dcterms:W3CDTF">2025-04-10T15:57:05Z</dcterms:created>
  <dcterms:modified xsi:type="dcterms:W3CDTF">2025-04-12T05:29:34Z</dcterms:modified>
</cp:coreProperties>
</file>